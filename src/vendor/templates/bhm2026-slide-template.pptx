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54e547f-d109-66ac-7bcf-dd073cf8ebc2}">
          <p14:sldIdLst>
            <p14:sldId id="256"/>
            <p14:sldId id="257"/>
          </p14:sldIdLst>
        </p14:section>
        <p14:section name="Main content" id="{50d96ca2-18c4-097c-9852-b50be4265325}">
          <p14:sldIdLst>
            <p14:sldId id="258"/>
            <p14:sldId id="259"/>
            <p14:sldId id="260"/>
            <p14:sldId id="261"/>
            <p14:sldId id="262"/>
          </p14:sldIdLst>
        </p14:section>
        <p14:section name="Closing" id="{f3f358b7-f9ff-281b-d8ec-12c9c739324c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the title and date. Credit the national theme to Black History Month UK. Fonts: Bricolage Grotesque (headings) is free from Google Fonts; if it is not installed, PowerPoint substitutes a similar font.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Accessibility: keep text at 18pt or larger, never put text over busy images, and give every image alt text. Check reading order in the Selection Pane.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Use one between each part of a longer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Two-column layout. Use for do and don't, before and after, or two viewpoints.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Statistic layout. Always give the source and date on the slide. Replace with your own organisation's figure where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Proverb layout. Show the original language first, then the translation and where it comes from. Check translations with speakers.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layout. Insert a picture into the placeholder, then add alt text. Avoid stock images of anonymous Black people as decoration.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End with one clear action and where people can find out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HM Title">
    <p:bg>
      <p:bgPr>
        <a:solidFill>
          <a:srgbClr val="14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28016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463040"/>
            <a:ext cx="74980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Presentation title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023360"/>
            <a:ext cx="74980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E2AE45"/>
                </a:solidFill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E2AE45"/>
                </a:solidFill>
              </a:rPr>
              <a:t>Your organisation · date</a:t>
            </a:r>
            <a:endParaRPr lang="en-US" sz="20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Black History Month 2026 · Honouring Our Communities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4EC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HM Section">
    <p:bg>
      <p:bgPr>
        <a:solidFill>
          <a:srgbClr val="14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45720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194560"/>
            <a:ext cx="91440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Section title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74904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E2AE45"/>
                </a:solidFill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E2AE45"/>
                </a:solidFill>
              </a:rPr>
              <a:t>What this part covers</a:t>
            </a:r>
            <a:endParaRPr lang="en-US" sz="20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Black History Month 2026 · Honouring Our Communities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4EC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HM Content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200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65760"/>
            <a:ext cx="10332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one message of this slide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54480"/>
            <a:ext cx="1078992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Up to three supporting points</a:t>
            </a:r>
            <a:endParaRPr lang="en-US" sz="20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Black History Month 2026 · Honouring Our Communities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A1D1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HM Two columns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200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65760"/>
            <a:ext cx="10332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Compare two things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54480"/>
            <a:ext cx="530352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Left column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309360" y="1554480"/>
            <a:ext cx="530352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Right column</a:t>
            </a: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Black History Month 2026 · Honouring Our Communities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A1D1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HM Statistic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200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078992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0" b="1" dirty="0">
                <a:solidFill>
                  <a:srgbClr val="8A5A1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indent="0" marL="0">
              <a:buNone/>
            </a:pPr>
            <a:r>
              <a:rPr lang="en-US" sz="11000" b="1" dirty="0">
                <a:solidFill>
                  <a:srgbClr val="8A5A1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18%</a:t>
            </a:r>
            <a:endParaRPr lang="en-US" sz="11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57600"/>
            <a:ext cx="107899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What the number means</a:t>
            </a:r>
            <a:endParaRPr lang="en-US" sz="2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5212080"/>
            <a:ext cx="107899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Source: name and date</a:t>
            </a:r>
            <a:endParaRPr lang="en-US" sz="1400" dirty="0"/>
          </a:p>
        </p:txBody>
      </p:sp>
      <p:sp>
        <p:nvSpPr>
          <p:cNvPr id="6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Black History Month 2026 · Honouring Our Communities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A1D1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HM Quote or proverb">
    <p:bg>
      <p:bgPr>
        <a:solidFill>
          <a:srgbClr val="14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E2AE4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</a:t>
            </a:r>
            <a:endParaRPr lang="en-US" sz="14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22960" y="1737360"/>
            <a:ext cx="1042416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proverb or quote, in its own language</a:t>
            </a: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4389120"/>
            <a:ext cx="10424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Translation</a:t>
            </a:r>
            <a:endParaRPr lang="en-US" sz="2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22960" y="5394960"/>
            <a:ext cx="104241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E2AE45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E2AE45"/>
                </a:solidFill>
              </a:rPr>
              <a:t>Language and origin</a:t>
            </a:r>
            <a:endParaRPr lang="en-US" sz="1400" dirty="0"/>
          </a:p>
        </p:txBody>
      </p:sp>
      <p:sp>
        <p:nvSpPr>
          <p:cNvPr id="6" name="Text 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Black History Month 2026 · Honouring Our Communities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4EC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HM Image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20040"/>
            <a:ext cx="685800" cy="685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463040"/>
            <a:ext cx="6949440" cy="4663440"/>
          </a:xfrm>
          <a:prstGeom prst="rect">
            <a:avLst/>
          </a:prstGeom>
          <a:solidFill>
            <a:srgbClr val="EDE6D8"/>
          </a:solidFill>
          <a:ln/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65760"/>
            <a:ext cx="10332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Image title</a:t>
            </a:r>
            <a:endParaRPr lang="en-US" sz="32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548640" y="1463040"/>
            <a:ext cx="6949440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1"/>
                </a:solidFill>
              </a:rPr>
              <a:t>Picture (with consent; add alt text)</a:t>
            </a:r>
            <a:endParaRPr lang="en-US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863840" y="1463040"/>
            <a:ext cx="3749040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Caption and credit</a:t>
            </a:r>
            <a:endParaRPr lang="en-US" sz="1800" dirty="0"/>
          </a:p>
        </p:txBody>
      </p:sp>
      <p:sp>
        <p:nvSpPr>
          <p:cNvPr id="7" name="Text 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Black History Month 2026 · Honouring Our Communities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A1D1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HM Closing">
    <p:bg>
      <p:bgPr>
        <a:solidFill>
          <a:srgbClr val="14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64008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914400" y="4389120"/>
            <a:ext cx="10332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rgbClr val="E2AE45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2000" dirty="0">
                <a:solidFill>
                  <a:srgbClr val="E2AE45"/>
                </a:solidFill>
              </a:rPr>
              <a:t>One action to take · where to find out more</a:t>
            </a:r>
            <a:endParaRPr lang="en-US" sz="20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Black History Month 2026 · Honouring Our Communities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4EC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4EC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46304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Honouring Our Communities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4023360"/>
            <a:ext cx="749808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rgbClr val="E2AE45"/>
                </a:solidFill>
              </a:rPr>
              <a:t>Black History Month 2026 · Your organisation · Date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4EC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332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to use this template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1554480"/>
            <a:ext cx="10789920" cy="44805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One message per slide; three points at most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Use the layouts (Home &gt; Layout) rather than moving boxes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Add alt text to every picture; check with Review &gt; Check Accessibility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A1D1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194560"/>
            <a:ext cx="914400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Part 1: Our history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822960" y="374904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rgbClr val="E2AE45"/>
                </a:solidFill>
              </a:rPr>
              <a:t>What this part covers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4EC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332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Appreciation, not appropriation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1554480"/>
            <a:ext cx="5303520" cy="44805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Ask first, and accept no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Credit people and places by name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Pay contributors fairly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309360" y="1554480"/>
            <a:ext cx="5303520" cy="44805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costumes or 'dress-up' days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sacred items as props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profit from others' heritage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A1D1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0"/>
            <a:ext cx="10789920" cy="23774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0" b="1" dirty="0">
                <a:solidFill>
                  <a:srgbClr val="8A5A1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18%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3657600"/>
            <a:ext cx="1078992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of civil servants with a known ethnicity were from ethnic minority backgrounds in March 2025</a:t>
            </a:r>
            <a:endParaRPr lang="en-US" sz="2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5212080"/>
            <a:ext cx="107899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Source: Civil Service Statistics 2025, GOV.UK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A1D1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22960" y="1737360"/>
            <a:ext cx="10424160" cy="2560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Umuntu ngumuntu ngabantu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4389120"/>
            <a:ext cx="1042416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 person is a person through other people.</a:t>
            </a:r>
            <a:endParaRPr lang="en-US" sz="2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822960" y="5394960"/>
            <a:ext cx="1042416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dirty="0">
                <a:solidFill>
                  <a:srgbClr val="E2AE45"/>
                </a:solidFill>
              </a:rPr>
              <a:t>isiZulu (Nguni), Southern Africa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4EC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10332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photo with consent</a:t>
            </a:r>
            <a:endParaRPr lang="en-US" sz="3200" dirty="0"/>
          </a:p>
        </p:txBody>
      </p:sp>
      <p:sp>
        <p:nvSpPr>
          <p:cNvPr id="3" name="Text 1"/>
          <p:cNvSpPr/>
          <p:nvPr>
            <p:ph idx="104" type="body" hasCustomPrompt="1"/>
          </p:nvPr>
        </p:nvSpPr>
        <p:spPr>
          <a:xfrm>
            <a:off x="7863840" y="1463040"/>
            <a:ext cx="3749040" cy="46634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Caption: who, where, when. Credit the photographer. Only use photos of colleagues who have agreed.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548640" y="1463040"/>
            <a:ext cx="6949440" cy="46634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A1D1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914400" y="4389120"/>
            <a:ext cx="1033272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AE45"/>
                </a:solidFill>
              </a:rPr>
              <a:t>One thing to do this week · Find more in the Black History and Heritage Hub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4EC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HM 2026 Honouring Our Communities">
  <a:themeElements>
    <a:clrScheme name="BHM 2026 Honouring Our Communities">
      <a:dk1>
        <a:srgbClr val="14110E"/>
      </a:dk1>
      <a:lt1>
        <a:srgbClr val="F7F3EA"/>
      </a:lt1>
      <a:dk2>
        <a:srgbClr val="2A1D14"/>
      </a:dk2>
      <a:lt2>
        <a:srgbClr val="F4ECDD"/>
      </a:lt2>
      <a:accent1>
        <a:srgbClr val="E2AE45"/>
      </a:accent1>
      <a:accent2>
        <a:srgbClr val="D2483B"/>
      </a:accent2>
      <a:accent3>
        <a:srgbClr val="3E9E6A"/>
      </a:accent3>
      <a:accent4>
        <a:srgbClr val="2E5E8A"/>
      </a:accent4>
      <a:accent5>
        <a:srgbClr val="7A3A22"/>
      </a:accent5>
      <a:accent6>
        <a:srgbClr val="8A5A12"/>
      </a:accent6>
      <a:hlink>
        <a:srgbClr val="2E5E8A"/>
      </a:hlink>
      <a:folHlink>
        <a:srgbClr val="7A3A22"/>
      </a:folHlink>
    </a:clrScheme>
    <a:fontScheme name="BHM 2026 Honouring Our Communities">
      <a:majorFont>
        <a:latin typeface="Bricolage Grotesq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Black History and Heritage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History Month 2026 slide template</dc:title>
  <dc:subject>Honouring Our Communities</dc:subject>
  <dc:creator>Black History and Heritage Hub</dc:creator>
  <cp:lastModifiedBy>Black History and Heritage Hub</cp:lastModifiedBy>
  <cp:revision>1</cp:revision>
  <dcterms:created xsi:type="dcterms:W3CDTF">2026-10-21T15:24:24Z</dcterms:created>
  <dcterms:modified xsi:type="dcterms:W3CDTF">2026-10-21T15:24:24Z</dcterms:modified>
</cp:coreProperties>
</file>